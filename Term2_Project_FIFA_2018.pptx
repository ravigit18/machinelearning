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FIFA 2018 Man of the Match Prediction Model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chemeClr val="tx1"/>
                </a:solidFill>
              </a:rPr>
              <a:t>By</a:t>
            </a:r>
            <a:endParaRPr lang="en-US" i="1" dirty="0" smtClean="0">
              <a:solidFill>
                <a:schemeClr val="tx1"/>
              </a:solidFill>
            </a:endParaRPr>
          </a:p>
          <a:p>
            <a:r>
              <a:rPr lang="en-US" i="1" dirty="0" smtClean="0">
                <a:solidFill>
                  <a:schemeClr val="accent1"/>
                </a:solidFill>
              </a:rPr>
              <a:t>Ravi </a:t>
            </a:r>
            <a:r>
              <a:rPr lang="en-US" i="1" dirty="0" err="1" smtClean="0">
                <a:solidFill>
                  <a:schemeClr val="accent1"/>
                </a:solidFill>
              </a:rPr>
              <a:t>Ranjan</a:t>
            </a:r>
            <a:r>
              <a:rPr lang="en-US" i="1" dirty="0" smtClean="0">
                <a:solidFill>
                  <a:schemeClr val="accent1"/>
                </a:solidFill>
              </a:rPr>
              <a:t> &amp; </a:t>
            </a:r>
            <a:r>
              <a:rPr lang="en-US" i="1" dirty="0" err="1" smtClean="0">
                <a:solidFill>
                  <a:schemeClr val="accent1"/>
                </a:solidFill>
              </a:rPr>
              <a:t>Paras</a:t>
            </a:r>
            <a:r>
              <a:rPr lang="en-US" i="1" dirty="0" smtClean="0">
                <a:solidFill>
                  <a:schemeClr val="accent1"/>
                </a:solidFill>
              </a:rPr>
              <a:t> </a:t>
            </a:r>
            <a:r>
              <a:rPr lang="en-US" i="1" dirty="0" err="1" smtClean="0">
                <a:solidFill>
                  <a:schemeClr val="accent1"/>
                </a:solidFill>
              </a:rPr>
              <a:t>Prakash</a:t>
            </a:r>
            <a:endParaRPr lang="en-US" i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7773502" cy="54102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EDA on FIFA 2018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r>
              <a:rPr lang="en-US" sz="1600" dirty="0" smtClean="0"/>
              <a:t>The dataset comprises of </a:t>
            </a:r>
            <a:r>
              <a:rPr lang="en-US" sz="1600" b="1" dirty="0" smtClean="0"/>
              <a:t>128 observations of 27 columns</a:t>
            </a:r>
            <a:r>
              <a:rPr lang="en-US" sz="1600" dirty="0" smtClean="0"/>
              <a:t>. Below is a table showing names of all the columns and their </a:t>
            </a:r>
            <a:r>
              <a:rPr lang="en-US" sz="1600" dirty="0" smtClean="0"/>
              <a:t>description</a:t>
            </a:r>
          </a:p>
          <a:p>
            <a:endParaRPr lang="en-US" sz="1600" dirty="0" smtClean="0"/>
          </a:p>
          <a:p>
            <a:endParaRPr lang="en-US" sz="1600" dirty="0" smtClean="0"/>
          </a:p>
          <a:p>
            <a:pPr lvl="1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Autofit/>
          </a:bodyPr>
          <a:lstStyle/>
          <a:p>
            <a:r>
              <a:rPr lang="en-US" sz="2000" dirty="0" smtClean="0"/>
              <a:t>Heat map after pre-processing</a:t>
            </a:r>
            <a:r>
              <a:rPr lang="en-US" sz="1200" i="1" dirty="0" smtClean="0"/>
              <a:t>{</a:t>
            </a:r>
            <a:r>
              <a:rPr lang="en-US" sz="1200" i="1" dirty="0" err="1" smtClean="0"/>
              <a:t>NaN</a:t>
            </a:r>
            <a:r>
              <a:rPr lang="en-US" sz="1200" i="1" dirty="0" smtClean="0"/>
              <a:t> removal, data conversion and dropping some columns} </a:t>
            </a:r>
            <a:r>
              <a:rPr lang="en-US" sz="2000" dirty="0" smtClean="0"/>
              <a:t>of data</a:t>
            </a:r>
            <a:endParaRPr lang="en-US" sz="2000" dirty="0"/>
          </a:p>
        </p:txBody>
      </p:sp>
      <p:pic>
        <p:nvPicPr>
          <p:cNvPr id="6" name="Content Placeholder 5" descr="HeatMap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533400"/>
            <a:ext cx="7063486" cy="6324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selection &amp; 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dirty="0" smtClean="0"/>
              <a:t>From </a:t>
            </a:r>
            <a:r>
              <a:rPr lang="en-US" sz="1800" dirty="0" smtClean="0"/>
              <a:t>above observations, We don't see much </a:t>
            </a:r>
            <a:r>
              <a:rPr lang="en-US" sz="1800" dirty="0" smtClean="0"/>
              <a:t>correlation </a:t>
            </a:r>
            <a:r>
              <a:rPr lang="en-US" sz="1800" dirty="0" smtClean="0"/>
              <a:t>between the output(Man of the Match) and input(Rest of the columns). So, We are giving preference to Random Forest on top of Linear regression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Accuracy score for test data using the </a:t>
            </a:r>
            <a:r>
              <a:rPr lang="en-US" sz="1800" dirty="0" smtClean="0"/>
              <a:t>Random Forest model </a:t>
            </a:r>
            <a:r>
              <a:rPr lang="en-US" sz="1800" dirty="0" smtClean="0"/>
              <a:t>with parameter specification: </a:t>
            </a:r>
            <a:r>
              <a:rPr lang="en-US" sz="1800" dirty="0" smtClean="0"/>
              <a:t>58 %. Below is the confusion matrix:- [</a:t>
            </a:r>
            <a:r>
              <a:rPr lang="en-US" sz="1300" b="1" dirty="0" smtClean="0"/>
              <a:t>MOM_N</a:t>
            </a:r>
            <a:r>
              <a:rPr lang="en-US" sz="1800" dirty="0" smtClean="0"/>
              <a:t> means none of the team members got Man of the </a:t>
            </a:r>
            <a:r>
              <a:rPr lang="en-US" sz="1800" dirty="0" smtClean="0"/>
              <a:t>Match. </a:t>
            </a:r>
            <a:r>
              <a:rPr lang="en-US" sz="1300" b="1" dirty="0" smtClean="0"/>
              <a:t>MOM_Y</a:t>
            </a:r>
            <a:r>
              <a:rPr lang="en-US" sz="1800" dirty="0" smtClean="0"/>
              <a:t> means one of the team members got Man of the </a:t>
            </a:r>
            <a:r>
              <a:rPr lang="en-US" sz="1800" dirty="0" smtClean="0"/>
              <a:t>Match]</a:t>
            </a:r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After further tuning we got the final accuracy </a:t>
            </a:r>
            <a:r>
              <a:rPr lang="en-US" sz="1800" dirty="0" smtClean="0"/>
              <a:t>score </a:t>
            </a:r>
            <a:r>
              <a:rPr lang="en-US" sz="1800" dirty="0" smtClean="0"/>
              <a:t>with </a:t>
            </a:r>
            <a:r>
              <a:rPr lang="en-US" sz="1800" dirty="0" err="1" smtClean="0"/>
              <a:t>RandomizedSearchCV</a:t>
            </a:r>
            <a:r>
              <a:rPr lang="en-US" sz="1800" dirty="0" smtClean="0"/>
              <a:t> as 69%. An increase of roughly 11%. </a:t>
            </a:r>
            <a:r>
              <a:rPr lang="en-US" sz="1800" dirty="0" smtClean="0"/>
              <a:t>Below is the </a:t>
            </a:r>
            <a:r>
              <a:rPr lang="en-US" sz="1800" dirty="0" smtClean="0"/>
              <a:t>new confusion </a:t>
            </a:r>
            <a:r>
              <a:rPr lang="en-US" sz="1800" dirty="0" smtClean="0"/>
              <a:t>matrix:-</a:t>
            </a:r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r>
              <a:rPr lang="en-US" sz="1800" dirty="0" smtClean="0"/>
              <a:t>the number of correct predictions increased to 18 from 15 and number of false predictions decreased to 8 from 11.</a:t>
            </a:r>
          </a:p>
          <a:p>
            <a:endParaRPr lang="en-US" dirty="0"/>
          </a:p>
        </p:txBody>
      </p:sp>
      <p:pic>
        <p:nvPicPr>
          <p:cNvPr id="7" name="Picture 6" descr="RandomForestConfusionMatr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3352800"/>
            <a:ext cx="3381375" cy="619125"/>
          </a:xfrm>
          <a:prstGeom prst="rect">
            <a:avLst/>
          </a:prstGeom>
        </p:spPr>
      </p:pic>
      <p:pic>
        <p:nvPicPr>
          <p:cNvPr id="8" name="Picture 7" descr="RandomForestGridCVConfusionMatr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4724400"/>
            <a:ext cx="3371850" cy="619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Recall score </a:t>
            </a:r>
            <a:r>
              <a:rPr lang="en-US" sz="1800" dirty="0" smtClean="0"/>
              <a:t>for the final </a:t>
            </a:r>
            <a:r>
              <a:rPr lang="en-US" sz="1800" dirty="0" smtClean="0"/>
              <a:t>model with parameter specification: </a:t>
            </a:r>
            <a:r>
              <a:rPr lang="en-US" sz="1800" dirty="0" smtClean="0"/>
              <a:t>80%</a:t>
            </a:r>
          </a:p>
          <a:p>
            <a:r>
              <a:rPr lang="en-US" sz="1800" dirty="0" smtClean="0"/>
              <a:t>Precision score for the final </a:t>
            </a:r>
            <a:r>
              <a:rPr lang="en-US" sz="1800" dirty="0" smtClean="0"/>
              <a:t>model </a:t>
            </a:r>
            <a:r>
              <a:rPr lang="en-US" sz="1800" dirty="0" smtClean="0"/>
              <a:t>with parameter specification: </a:t>
            </a:r>
            <a:r>
              <a:rPr lang="en-US" sz="1800" dirty="0" smtClean="0"/>
              <a:t>70.6%</a:t>
            </a:r>
          </a:p>
          <a:p>
            <a:r>
              <a:rPr lang="en-US" sz="1800" dirty="0" smtClean="0"/>
              <a:t>F1 </a:t>
            </a:r>
            <a:r>
              <a:rPr lang="en-US" sz="1800" dirty="0" smtClean="0"/>
              <a:t>score for the final </a:t>
            </a:r>
            <a:r>
              <a:rPr lang="en-US" sz="1800" dirty="0" smtClean="0"/>
              <a:t>model </a:t>
            </a:r>
            <a:r>
              <a:rPr lang="en-US" sz="1800" dirty="0" smtClean="0"/>
              <a:t>with parameter specification: </a:t>
            </a:r>
            <a:r>
              <a:rPr lang="en-US" sz="1800" dirty="0" smtClean="0"/>
              <a:t>75%</a:t>
            </a:r>
          </a:p>
          <a:p>
            <a:r>
              <a:rPr lang="en-US" sz="1800" dirty="0" smtClean="0"/>
              <a:t>The  AUC score for the final Random </a:t>
            </a:r>
            <a:r>
              <a:rPr lang="en-US" sz="1800" dirty="0" smtClean="0"/>
              <a:t>Forest </a:t>
            </a:r>
            <a:r>
              <a:rPr lang="en-US" sz="1800" dirty="0" err="1" smtClean="0"/>
              <a:t>RandomizedsearchCV</a:t>
            </a:r>
            <a:r>
              <a:rPr lang="en-US" sz="1800" dirty="0" smtClean="0"/>
              <a:t> model is 0.63 which is above 0.5</a:t>
            </a:r>
          </a:p>
          <a:p>
            <a:endParaRPr lang="en-US" dirty="0"/>
          </a:p>
        </p:txBody>
      </p:sp>
      <p:pic>
        <p:nvPicPr>
          <p:cNvPr id="4" name="Picture 3" descr="AUC_ROC_Cur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352800"/>
            <a:ext cx="4152900" cy="2695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3800" dirty="0" smtClean="0">
                <a:solidFill>
                  <a:schemeClr val="accent1"/>
                </a:solidFill>
              </a:rPr>
              <a:t>Thank You</a:t>
            </a:r>
            <a:endParaRPr lang="en-US" sz="13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160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FIFA 2018 Man of the Match Prediction Model</vt:lpstr>
      <vt:lpstr>EDA on FIFA 2018 Dataset</vt:lpstr>
      <vt:lpstr>Heat map after pre-processing{NaN removal, data conversion and dropping some columns} of data</vt:lpstr>
      <vt:lpstr>Model selection &amp; Accuracy</vt:lpstr>
      <vt:lpstr>Model Evaluation</vt:lpstr>
      <vt:lpstr>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FIFA 2018 Man of the Match Prediction Model</dc:title>
  <dc:creator>paras</dc:creator>
  <cp:lastModifiedBy>paras</cp:lastModifiedBy>
  <cp:revision>12</cp:revision>
  <dcterms:created xsi:type="dcterms:W3CDTF">2006-08-16T00:00:00Z</dcterms:created>
  <dcterms:modified xsi:type="dcterms:W3CDTF">2018-12-23T13:31:39Z</dcterms:modified>
</cp:coreProperties>
</file>